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3" r:id="rId7"/>
    <p:sldId id="264" r:id="rId8"/>
    <p:sldId id="261" r:id="rId9"/>
    <p:sldId id="275" r:id="rId10"/>
    <p:sldId id="262" r:id="rId11"/>
    <p:sldId id="265" r:id="rId12"/>
    <p:sldId id="268" r:id="rId13"/>
    <p:sldId id="267" r:id="rId14"/>
    <p:sldId id="279" r:id="rId15"/>
    <p:sldId id="266" r:id="rId16"/>
    <p:sldId id="280" r:id="rId17"/>
    <p:sldId id="281" r:id="rId18"/>
    <p:sldId id="282" r:id="rId19"/>
    <p:sldId id="271" r:id="rId20"/>
    <p:sldId id="270" r:id="rId21"/>
    <p:sldId id="272" r:id="rId22"/>
  </p:sldIdLst>
  <p:sldSz cx="18288000" cy="10287000"/>
  <p:notesSz cx="6858000" cy="9144000"/>
  <p:embeddedFontLst>
    <p:embeddedFont>
      <p:font typeface="Berthold Block" panose="020B0604020202020204" charset="0"/>
      <p:regular r:id="rId23"/>
    </p:embeddedFont>
    <p:embeddedFont>
      <p:font typeface="Dubai" panose="020B0503030403030204" pitchFamily="34" charset="-78"/>
      <p:regular r:id="rId24"/>
      <p:bold r:id="rId25"/>
    </p:embeddedFont>
    <p:embeddedFont>
      <p:font typeface="Glacial Indifference" panose="020B0604020202020204" charset="0"/>
      <p:regular r:id="rId26"/>
    </p:embeddedFont>
    <p:embeddedFont>
      <p:font typeface="Glacial Indifference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7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3.png"/><Relationship Id="rId17" Type="http://schemas.openxmlformats.org/officeDocument/2006/relationships/image" Target="../media/image18.svg"/><Relationship Id="rId2" Type="http://schemas.openxmlformats.org/officeDocument/2006/relationships/image" Target="../media/image9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.svg"/><Relationship Id="rId5" Type="http://schemas.openxmlformats.org/officeDocument/2006/relationships/image" Target="../media/image12.svg"/><Relationship Id="rId15" Type="http://schemas.openxmlformats.org/officeDocument/2006/relationships/image" Target="../media/image8.svg"/><Relationship Id="rId10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8.sv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4.svg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4.svg"/><Relationship Id="rId10" Type="http://schemas.openxmlformats.org/officeDocument/2006/relationships/image" Target="../media/image26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5.svg"/><Relationship Id="rId5" Type="http://schemas.openxmlformats.org/officeDocument/2006/relationships/image" Target="../media/image4.sv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1.svg"/><Relationship Id="rId5" Type="http://schemas.openxmlformats.org/officeDocument/2006/relationships/image" Target="../media/image4.sv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5.svg"/><Relationship Id="rId5" Type="http://schemas.openxmlformats.org/officeDocument/2006/relationships/image" Target="../media/image4.svg"/><Relationship Id="rId10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5.svg"/><Relationship Id="rId5" Type="http://schemas.openxmlformats.org/officeDocument/2006/relationships/image" Target="../media/image4.svg"/><Relationship Id="rId10" Type="http://schemas.openxmlformats.org/officeDocument/2006/relationships/image" Target="../media/image34.pn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4.sv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42.svg"/><Relationship Id="rId5" Type="http://schemas.openxmlformats.org/officeDocument/2006/relationships/image" Target="../media/image4.sv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6.svg"/><Relationship Id="rId3" Type="http://schemas.openxmlformats.org/officeDocument/2006/relationships/image" Target="../media/image2.svg"/><Relationship Id="rId7" Type="http://schemas.openxmlformats.org/officeDocument/2006/relationships/image" Target="../media/image18.svg"/><Relationship Id="rId12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44.svg"/><Relationship Id="rId5" Type="http://schemas.openxmlformats.org/officeDocument/2006/relationships/image" Target="../media/image4.svg"/><Relationship Id="rId10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88384" y="333204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407818" y="3128239"/>
            <a:ext cx="5731954" cy="2088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PRESENTED BY</a:t>
            </a:r>
          </a:p>
        </p:txBody>
      </p:sp>
      <p:sp>
        <p:nvSpPr>
          <p:cNvPr id="4" name="Freeform 4"/>
          <p:cNvSpPr/>
          <p:nvPr/>
        </p:nvSpPr>
        <p:spPr>
          <a:xfrm>
            <a:off x="11121566" y="1403445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423716" y="4838700"/>
            <a:ext cx="3390900" cy="33909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08065" y="2057400"/>
            <a:ext cx="6984102" cy="6172200"/>
          </a:xfrm>
          <a:custGeom>
            <a:avLst/>
            <a:gdLst/>
            <a:ahLst/>
            <a:cxnLst/>
            <a:rect l="l" t="t" r="r" b="b"/>
            <a:pathLst>
              <a:path w="6984102" h="6172200">
                <a:moveTo>
                  <a:pt x="0" y="0"/>
                </a:moveTo>
                <a:lnTo>
                  <a:pt x="6984101" y="0"/>
                </a:lnTo>
                <a:lnTo>
                  <a:pt x="698410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322699" y="6226623"/>
            <a:ext cx="6781801" cy="207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4800" dirty="0">
                <a:solidFill>
                  <a:srgbClr val="000000"/>
                </a:solidFill>
                <a:latin typeface="Dubai" panose="020B0503030403030204" pitchFamily="34" charset="-78"/>
                <a:ea typeface="Glacial Indifference Bold"/>
                <a:cs typeface="Dubai" panose="020B0503030403030204" pitchFamily="34" charset="-78"/>
                <a:sym typeface="Glacial Indifference Bold"/>
              </a:rPr>
              <a:t>-Adhm Ahmed Ali </a:t>
            </a:r>
          </a:p>
          <a:p>
            <a:pPr algn="l">
              <a:lnSpc>
                <a:spcPts val="3148"/>
              </a:lnSpc>
            </a:pPr>
            <a:endParaRPr lang="en-US" sz="4800" dirty="0">
              <a:solidFill>
                <a:srgbClr val="00000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algn="l">
              <a:lnSpc>
                <a:spcPts val="3148"/>
              </a:lnSpc>
            </a:pPr>
            <a:endParaRPr lang="en-US" sz="4800" dirty="0">
              <a:solidFill>
                <a:srgbClr val="00000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algn="l">
              <a:lnSpc>
                <a:spcPts val="3148"/>
              </a:lnSpc>
            </a:pPr>
            <a:endParaRPr lang="en-US" sz="4800" dirty="0">
              <a:solidFill>
                <a:srgbClr val="00000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  <a:p>
            <a:pPr algn="l">
              <a:lnSpc>
                <a:spcPts val="3148"/>
              </a:lnSpc>
            </a:pPr>
            <a:endParaRPr lang="en-US" sz="4800" dirty="0">
              <a:solidFill>
                <a:srgbClr val="000000"/>
              </a:solidFill>
              <a:latin typeface="Dubai" panose="020B0503030403030204" pitchFamily="34" charset="-78"/>
              <a:ea typeface="Glacial Indifference Bold"/>
              <a:cs typeface="Dubai" panose="020B0503030403030204" pitchFamily="34" charset="-78"/>
              <a:sym typeface="Glacial Indifference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860938" y="720090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207604" y="-158688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61868" y="8248947"/>
            <a:ext cx="1876281" cy="1893495"/>
          </a:xfrm>
          <a:custGeom>
            <a:avLst/>
            <a:gdLst/>
            <a:ahLst/>
            <a:cxnLst/>
            <a:rect l="l" t="t" r="r" b="b"/>
            <a:pathLst>
              <a:path w="1876281" h="1893495">
                <a:moveTo>
                  <a:pt x="0" y="0"/>
                </a:moveTo>
                <a:lnTo>
                  <a:pt x="1876281" y="0"/>
                </a:lnTo>
                <a:lnTo>
                  <a:pt x="1876281" y="1893495"/>
                </a:lnTo>
                <a:lnTo>
                  <a:pt x="0" y="189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485572" y="6244239"/>
            <a:ext cx="3357327" cy="3898202"/>
          </a:xfrm>
          <a:custGeom>
            <a:avLst/>
            <a:gdLst/>
            <a:ahLst/>
            <a:cxnLst/>
            <a:rect l="l" t="t" r="r" b="b"/>
            <a:pathLst>
              <a:path w="3357327" h="3898202">
                <a:moveTo>
                  <a:pt x="0" y="0"/>
                </a:moveTo>
                <a:lnTo>
                  <a:pt x="3357327" y="0"/>
                </a:lnTo>
                <a:lnTo>
                  <a:pt x="3357327" y="3898203"/>
                </a:lnTo>
                <a:lnTo>
                  <a:pt x="0" y="3898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87638">
            <a:off x="11109001" y="6462447"/>
            <a:ext cx="3375115" cy="3417838"/>
          </a:xfrm>
          <a:custGeom>
            <a:avLst/>
            <a:gdLst/>
            <a:ahLst/>
            <a:cxnLst/>
            <a:rect l="l" t="t" r="r" b="b"/>
            <a:pathLst>
              <a:path w="3375115" h="3417838">
                <a:moveTo>
                  <a:pt x="0" y="0"/>
                </a:moveTo>
                <a:lnTo>
                  <a:pt x="3375115" y="0"/>
                </a:lnTo>
                <a:lnTo>
                  <a:pt x="3375115" y="3417838"/>
                </a:lnTo>
                <a:lnTo>
                  <a:pt x="0" y="3417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165298">
            <a:off x="3467591" y="6981765"/>
            <a:ext cx="3686898" cy="2622306"/>
          </a:xfrm>
          <a:custGeom>
            <a:avLst/>
            <a:gdLst/>
            <a:ahLst/>
            <a:cxnLst/>
            <a:rect l="l" t="t" r="r" b="b"/>
            <a:pathLst>
              <a:path w="3686898" h="2622306">
                <a:moveTo>
                  <a:pt x="0" y="0"/>
                </a:moveTo>
                <a:lnTo>
                  <a:pt x="3686897" y="0"/>
                </a:lnTo>
                <a:lnTo>
                  <a:pt x="3686897" y="2622306"/>
                </a:lnTo>
                <a:lnTo>
                  <a:pt x="0" y="2622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434409" y="2916690"/>
            <a:ext cx="7635397" cy="1861128"/>
          </a:xfrm>
          <a:custGeom>
            <a:avLst/>
            <a:gdLst/>
            <a:ahLst/>
            <a:cxnLst/>
            <a:rect l="l" t="t" r="r" b="b"/>
            <a:pathLst>
              <a:path w="7635397" h="1861128">
                <a:moveTo>
                  <a:pt x="0" y="0"/>
                </a:moveTo>
                <a:lnTo>
                  <a:pt x="7635397" y="0"/>
                </a:lnTo>
                <a:lnTo>
                  <a:pt x="7635397" y="1861128"/>
                </a:lnTo>
                <a:lnTo>
                  <a:pt x="0" y="18611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61449" y="549406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3"/>
                </a:lnTo>
                <a:lnTo>
                  <a:pt x="0" y="9905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70529" y="6528353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4372235" flipV="1">
            <a:off x="-1258871" y="6869181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96163" y="4867656"/>
            <a:ext cx="17391837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600" dirty="0"/>
              <a:t>From OLTP source to SSAS cube — a complete Microsoft BI stack built on SQL Server, SSIS, SSAS, and Power BI.</a:t>
            </a:r>
            <a:endParaRPr lang="en-US" sz="3302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614490" y="1797114"/>
            <a:ext cx="12463710" cy="2913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306"/>
              </a:lnSpc>
            </a:pPr>
            <a:r>
              <a:rPr lang="en-US" sz="11777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ENERGY UTILITY CUSTOMER BI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2275726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42110" y="1028700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423716" y="4838700"/>
            <a:ext cx="3390900" cy="33909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13749" y="3857311"/>
            <a:ext cx="7062029" cy="5565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BUSINESS CHALLENGE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PROJECT OVERVIEW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FULL STACK ARCHITECTURE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HOW THE SYSTEM WORKS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OLTP Source Database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OLTP SOURCE ERD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Warehouse 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DW SCHEMA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BILLING DATA MART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SSIS ETL PIPELINE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SSAS OLAP CUBE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DASHBOARDS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AUTOMATION &amp; SCHEDULING</a:t>
            </a:r>
          </a:p>
          <a:p>
            <a:pPr marL="566380" lvl="1" indent="-283190" algn="just">
              <a:lnSpc>
                <a:spcPts val="3148"/>
              </a:lnSpc>
              <a:buFontTx/>
              <a:buAutoNum type="arabicPeriod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NEXT STEPS</a:t>
            </a:r>
          </a:p>
        </p:txBody>
      </p:sp>
      <p:sp>
        <p:nvSpPr>
          <p:cNvPr id="8" name="Freeform 8"/>
          <p:cNvSpPr/>
          <p:nvPr/>
        </p:nvSpPr>
        <p:spPr>
          <a:xfrm>
            <a:off x="13815391" y="617220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07604" y="-158688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635163" y="3332040"/>
            <a:ext cx="3631311" cy="4114800"/>
          </a:xfrm>
          <a:custGeom>
            <a:avLst/>
            <a:gdLst/>
            <a:ahLst/>
            <a:cxnLst/>
            <a:rect l="l" t="t" r="r" b="b"/>
            <a:pathLst>
              <a:path w="3631311" h="4114800">
                <a:moveTo>
                  <a:pt x="0" y="0"/>
                </a:moveTo>
                <a:lnTo>
                  <a:pt x="3631311" y="0"/>
                </a:lnTo>
                <a:lnTo>
                  <a:pt x="36313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52389" y="2466226"/>
            <a:ext cx="5544543" cy="10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AGENDA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51819" y="3907328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75210" y="1936042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458574" y="5522033"/>
            <a:ext cx="3364768" cy="856941"/>
            <a:chOff x="0" y="0"/>
            <a:chExt cx="886194" cy="2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194" cy="225696"/>
            </a:xfrm>
            <a:custGeom>
              <a:avLst/>
              <a:gdLst/>
              <a:ahLst/>
              <a:cxnLst/>
              <a:rect l="l" t="t" r="r" b="b"/>
              <a:pathLst>
                <a:path w="886194" h="225696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627378" y="2109549"/>
            <a:ext cx="6835939" cy="6263429"/>
          </a:xfrm>
          <a:custGeom>
            <a:avLst/>
            <a:gdLst/>
            <a:ahLst/>
            <a:cxnLst/>
            <a:rect l="l" t="t" r="r" b="b"/>
            <a:pathLst>
              <a:path w="6835939" h="6263429">
                <a:moveTo>
                  <a:pt x="0" y="0"/>
                </a:moveTo>
                <a:lnTo>
                  <a:pt x="6835938" y="0"/>
                </a:lnTo>
                <a:lnTo>
                  <a:pt x="6835938" y="6263428"/>
                </a:lnTo>
                <a:lnTo>
                  <a:pt x="0" y="6263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19457" y="742998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6202347" flipV="1">
            <a:off x="13751751" y="-111153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21020" y="5149696"/>
            <a:ext cx="9296400" cy="5137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A power utility needs to understand how customers consume energy, when they pay, and where collection risk lives.</a:t>
            </a:r>
          </a:p>
          <a:p>
            <a:r>
              <a:rPr lang="en-US" sz="2800" dirty="0"/>
              <a:t>The utility collects millions of transactional records but has no consolidated view for analysis. Questions that should take seconds take hours.</a:t>
            </a:r>
          </a:p>
          <a:p>
            <a:pPr algn="just">
              <a:lnSpc>
                <a:spcPts val="3148"/>
              </a:lnSpc>
            </a:pPr>
            <a:r>
              <a:rPr lang="en-US" sz="2800" b="1" dirty="0">
                <a:solidFill>
                  <a:srgbClr val="FFB90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System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Understand energy consumption patterns by time, customer type, and geography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Track billing status — paid, overdue, disputed — in real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Enable demand-response pricing and peak-load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Give finance a clean collections dashboard with zero SQL queries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51819" y="3117076"/>
            <a:ext cx="5849787" cy="2088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THE BUSINESS CHALLENGE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3981" y="-2951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3" y="0"/>
                </a:lnTo>
                <a:lnTo>
                  <a:pt x="5472553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71430" y="-495267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336735" y="7683546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69827" y="190500"/>
            <a:ext cx="10810741" cy="10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FULL STACK ARCHITECTURE</a:t>
            </a:r>
          </a:p>
        </p:txBody>
      </p:sp>
      <p:sp>
        <p:nvSpPr>
          <p:cNvPr id="8" name="Freeform 8"/>
          <p:cNvSpPr/>
          <p:nvPr/>
        </p:nvSpPr>
        <p:spPr>
          <a:xfrm rot="-6202347" flipV="1">
            <a:off x="-2811763" y="-2552667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E6E0BBC-BE97-A7E9-D58C-F6A7B8B34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6208"/>
            <a:ext cx="18288000" cy="8257891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14859000" y="788669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1309" y="2431309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67586" y="778699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709522" y="9058918"/>
            <a:ext cx="3364768" cy="856941"/>
            <a:chOff x="0" y="0"/>
            <a:chExt cx="886194" cy="2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194" cy="225696"/>
            </a:xfrm>
            <a:custGeom>
              <a:avLst/>
              <a:gdLst/>
              <a:ahLst/>
              <a:cxnLst/>
              <a:rect l="l" t="t" r="r" b="b"/>
              <a:pathLst>
                <a:path w="886194" h="225696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19457" y="742998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6202347" flipV="1">
            <a:off x="13751751" y="-111153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663953" y="2907324"/>
            <a:ext cx="12354052" cy="1715841"/>
            <a:chOff x="0" y="0"/>
            <a:chExt cx="16472069" cy="22877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72069" cy="2287787"/>
            </a:xfrm>
            <a:custGeom>
              <a:avLst/>
              <a:gdLst/>
              <a:ahLst/>
              <a:cxnLst/>
              <a:rect l="l" t="t" r="r" b="b"/>
              <a:pathLst>
                <a:path w="16472069" h="2287787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16472069" cy="24116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5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6013" y="4753464"/>
            <a:ext cx="15737303" cy="5770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OLTP Source: </a:t>
            </a:r>
            <a:r>
              <a:rPr lang="en-US" sz="25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EnergyUtility_TransactionDB</a:t>
            </a: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(12 tables, ~393K rows)</a:t>
            </a:r>
          </a:p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Warehouse: Star schema, 6 dims + 2 facts, SCD-2</a:t>
            </a:r>
          </a:p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Data Mart: </a:t>
            </a:r>
            <a:r>
              <a:rPr lang="en-US" sz="25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EnergyUtility_DataMart_Billing</a:t>
            </a: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(finance-optimized)</a:t>
            </a:r>
          </a:p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ETL: 4 SSIS packages with stored-procedure architecture</a:t>
            </a:r>
          </a:p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SSAS: 2 multidimensional cubes, 15+ MDX calculated members</a:t>
            </a:r>
          </a:p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Dashboard: Excel PivotTables + Power BI live connection</a:t>
            </a:r>
          </a:p>
          <a:p>
            <a:pPr marL="457200" indent="-457200" algn="just">
              <a:lnSpc>
                <a:spcPts val="3028"/>
              </a:lnSpc>
              <a:buFont typeface="Arial" panose="020B0604020202020204" pitchFamily="34" charset="0"/>
              <a:buChar char="•"/>
            </a:pPr>
            <a:r>
              <a:rPr lang="en-US" sz="25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Scheduling: SQL Server Agent — full pipeline at 2 AM nightly</a:t>
            </a: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3028"/>
              </a:lnSpc>
            </a:pPr>
            <a:endParaRPr lang="en-US" sz="2523" b="1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464466"/>
            <a:ext cx="6371622" cy="212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HOW THE SYSTEM WORKS</a:t>
            </a:r>
          </a:p>
        </p:txBody>
      </p:sp>
    </p:spTree>
  </p:cSld>
  <p:clrMapOvr>
    <a:masterClrMapping/>
  </p:clrMapOvr>
  <p:transition>
    <p:cover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79363" y="2304931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61449" y="1251634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85889" y="7805481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38821" y="3701629"/>
            <a:ext cx="7062029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(Core Entities):Customer (1,000 rows) —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CustomerType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drives tariff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eligibilityTariff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(5 rate plans) — peak/off-peak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pricingServiceAccount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account-tariff link per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customerMeter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Smart, Analog, Digital devices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38629" y="2495431"/>
            <a:ext cx="10810741" cy="10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OLTP Source Database</a:t>
            </a:r>
          </a:p>
        </p:txBody>
      </p:sp>
      <p:sp>
        <p:nvSpPr>
          <p:cNvPr id="9" name="Freeform 9"/>
          <p:cNvSpPr/>
          <p:nvPr/>
        </p:nvSpPr>
        <p:spPr>
          <a:xfrm rot="-6202347" flipV="1">
            <a:off x="-135203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047202" y="3863065"/>
            <a:ext cx="4555933" cy="4859662"/>
          </a:xfrm>
          <a:custGeom>
            <a:avLst/>
            <a:gdLst/>
            <a:ahLst/>
            <a:cxnLst/>
            <a:rect l="l" t="t" r="r" b="b"/>
            <a:pathLst>
              <a:path w="4555933" h="4859662">
                <a:moveTo>
                  <a:pt x="0" y="0"/>
                </a:moveTo>
                <a:lnTo>
                  <a:pt x="4555933" y="0"/>
                </a:lnTo>
                <a:lnTo>
                  <a:pt x="4555933" y="4859662"/>
                </a:lnTo>
                <a:lnTo>
                  <a:pt x="0" y="4859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144000" y="6696075"/>
            <a:ext cx="7062029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(High-Volume &amp; Finance):</a:t>
            </a:r>
          </a:p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MeterReading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365K rows,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IsPeak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+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AnomalyFlagBilling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monthly invoice per account, 5 status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lifecyclePayment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multiple partial payments per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billBillingDispute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Open → Resolved workflow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3981" y="-2951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3" y="0"/>
                </a:lnTo>
                <a:lnTo>
                  <a:pt x="5472553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71430" y="-495267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336735" y="7683546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38628" y="0"/>
            <a:ext cx="10810741" cy="10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OLTP SOURCE ERD</a:t>
            </a:r>
          </a:p>
        </p:txBody>
      </p:sp>
      <p:sp>
        <p:nvSpPr>
          <p:cNvPr id="8" name="Freeform 8"/>
          <p:cNvSpPr/>
          <p:nvPr/>
        </p:nvSpPr>
        <p:spPr>
          <a:xfrm rot="-6202347" flipV="1">
            <a:off x="-135203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A diagram of a company&#10;&#10;AI-generated content may be incorrect.">
            <a:extLst>
              <a:ext uri="{FF2B5EF4-FFF2-40B4-BE49-F238E27FC236}">
                <a16:creationId xmlns:a16="http://schemas.microsoft.com/office/drawing/2014/main" id="{C7C088AA-3B96-5E8B-A871-1DF592AFC5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62054"/>
            <a:ext cx="17882149" cy="8628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79363" y="2304931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61449" y="1251634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685889" y="7805481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517143" y="6391890"/>
            <a:ext cx="10949179" cy="3180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DimDate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(4,383 rows, 2019–2030) pre-populated —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DateKey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= YYYYMMDD integer for fast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joinsDimCustomer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/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DimServiceAccount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/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DimMeter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SCD Type 2 with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EffectiveDate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,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ExpiryDate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,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IsCurrentDimTariff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SCD Type 1 (rates are reference data, history not needed)FactEnergyUsage — grain: one row per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MeterReading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(~365K rows); measures: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KWhConsumed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,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EnergyCostFactBilling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grain: one row per account per billing cycle; MERGE handles status change updates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38629" y="2495431"/>
            <a:ext cx="10810741" cy="10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 Warehouse </a:t>
            </a:r>
          </a:p>
        </p:txBody>
      </p:sp>
      <p:sp>
        <p:nvSpPr>
          <p:cNvPr id="9" name="Freeform 9"/>
          <p:cNvSpPr/>
          <p:nvPr/>
        </p:nvSpPr>
        <p:spPr>
          <a:xfrm rot="-6202347" flipV="1">
            <a:off x="-135203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047202" y="3863065"/>
            <a:ext cx="4555933" cy="4859662"/>
          </a:xfrm>
          <a:custGeom>
            <a:avLst/>
            <a:gdLst/>
            <a:ahLst/>
            <a:cxnLst/>
            <a:rect l="l" t="t" r="r" b="b"/>
            <a:pathLst>
              <a:path w="4555933" h="4859662">
                <a:moveTo>
                  <a:pt x="0" y="0"/>
                </a:moveTo>
                <a:lnTo>
                  <a:pt x="4555933" y="0"/>
                </a:lnTo>
                <a:lnTo>
                  <a:pt x="4555933" y="4859662"/>
                </a:lnTo>
                <a:lnTo>
                  <a:pt x="0" y="4859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E2C836D-E97E-8692-E181-56B308FC8078}"/>
              </a:ext>
            </a:extLst>
          </p:cNvPr>
          <p:cNvSpPr txBox="1"/>
          <p:nvPr/>
        </p:nvSpPr>
        <p:spPr>
          <a:xfrm>
            <a:off x="7049945" y="4110854"/>
            <a:ext cx="7773397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465"/>
              </a:lnSpc>
              <a:buFont typeface="Arial" panose="020B0604020202020204" pitchFamily="34" charset="0"/>
              <a:buChar char="•"/>
            </a:pPr>
            <a:r>
              <a:rPr lang="en-US" sz="3200" b="1" dirty="0"/>
              <a:t>Star schema, 6 dimensions, 2 fact tables, SCD-2 on Customer, Account, and Meter.</a:t>
            </a:r>
            <a:endParaRPr lang="en-US" sz="2887" b="1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124422650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88384" y="333204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21566" y="1403445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423716" y="4838700"/>
            <a:ext cx="3390900" cy="33909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15391" y="720090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823881" y="-78276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23252" y="162305"/>
            <a:ext cx="8841496" cy="1049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DW SCHEMA</a:t>
            </a:r>
          </a:p>
        </p:txBody>
      </p: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6B0A5753-08F3-C1AD-1E7C-08B652656E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621" y="962625"/>
            <a:ext cx="18468621" cy="9074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88384" y="333204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21566" y="1403445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579579" y="5592041"/>
            <a:ext cx="3390900" cy="33909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447608" y="6383621"/>
            <a:ext cx="11448238" cy="1987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DM_DimCustomer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flat current-state only (no SCD history rows)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DM_DimBillingCycle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self-contained copy so mart needs no cross-database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joinsDM_FactBilling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—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CustomerType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, City, and State denormalized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inlineFinance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query "overdue bills by type this quarter" = single table scan, no joins required</a:t>
            </a:r>
          </a:p>
        </p:txBody>
      </p:sp>
      <p:sp>
        <p:nvSpPr>
          <p:cNvPr id="8" name="Freeform 8"/>
          <p:cNvSpPr/>
          <p:nvPr/>
        </p:nvSpPr>
        <p:spPr>
          <a:xfrm>
            <a:off x="14860938" y="720090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07604" y="-158688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62800" y="3526882"/>
            <a:ext cx="9255010" cy="1049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BILLING DATA MART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076292" y="4392907"/>
            <a:ext cx="5398884" cy="3684738"/>
          </a:xfrm>
          <a:custGeom>
            <a:avLst/>
            <a:gdLst/>
            <a:ahLst/>
            <a:cxnLst/>
            <a:rect l="l" t="t" r="r" b="b"/>
            <a:pathLst>
              <a:path w="5398884" h="3684738">
                <a:moveTo>
                  <a:pt x="0" y="0"/>
                </a:moveTo>
                <a:lnTo>
                  <a:pt x="5398884" y="0"/>
                </a:lnTo>
                <a:lnTo>
                  <a:pt x="5398884" y="3684739"/>
                </a:lnTo>
                <a:lnTo>
                  <a:pt x="0" y="36847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DDE874D9-794C-FDAE-3D74-9096B48580DD}"/>
              </a:ext>
            </a:extLst>
          </p:cNvPr>
          <p:cNvSpPr txBox="1"/>
          <p:nvPr/>
        </p:nvSpPr>
        <p:spPr>
          <a:xfrm>
            <a:off x="7438782" y="5042642"/>
            <a:ext cx="7062029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800" b="1" dirty="0"/>
              <a:t>Finance-optimized subset of the DW — most queries are single-table scans with zero joins.</a:t>
            </a:r>
            <a:endParaRPr lang="en-US" sz="2623" b="1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51819" y="3907328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75210" y="1936042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254690" y="7704124"/>
            <a:ext cx="3364768" cy="856941"/>
            <a:chOff x="0" y="0"/>
            <a:chExt cx="886194" cy="2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194" cy="225696"/>
            </a:xfrm>
            <a:custGeom>
              <a:avLst/>
              <a:gdLst/>
              <a:ahLst/>
              <a:cxnLst/>
              <a:rect l="l" t="t" r="r" b="b"/>
              <a:pathLst>
                <a:path w="886194" h="225696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19457" y="742998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6202347" flipV="1">
            <a:off x="13751751" y="-111153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592733" y="3907328"/>
            <a:ext cx="4220308" cy="4114800"/>
          </a:xfrm>
          <a:custGeom>
            <a:avLst/>
            <a:gdLst/>
            <a:ahLst/>
            <a:cxnLst/>
            <a:rect l="l" t="t" r="r" b="b"/>
            <a:pathLst>
              <a:path w="4220308" h="4114800">
                <a:moveTo>
                  <a:pt x="0" y="0"/>
                </a:moveTo>
                <a:lnTo>
                  <a:pt x="4220307" y="0"/>
                </a:lnTo>
                <a:lnTo>
                  <a:pt x="42203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926" y="6768776"/>
            <a:ext cx="11722175" cy="3180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Package 1 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(OLTP → Staging): Watermark extract — 12 tables via </a:t>
            </a:r>
            <a:r>
              <a:rPr lang="en-US" sz="2623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usp_Stage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_* procs, </a:t>
            </a:r>
            <a:r>
              <a:rPr lang="en-US" sz="2623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RunID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audit trail</a:t>
            </a:r>
          </a:p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Package 2 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(Staging → Dims): SCD-2 MERGE — expire old row, insert new version for Customer, ServiceAccount, Meter</a:t>
            </a:r>
          </a:p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Package 3 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(Staging → Facts): FactEnergyUsage INSERT + </a:t>
            </a:r>
            <a:r>
              <a:rPr lang="en-US" sz="2623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FactBilling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MERGE on </a:t>
            </a:r>
            <a:r>
              <a:rPr lang="en-US" sz="2623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SourceBillingID</a:t>
            </a:r>
            <a:endParaRPr lang="en-US" sz="2623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Package 4 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(DW → Data Mart): MERGE into </a:t>
            </a:r>
            <a:r>
              <a:rPr lang="en-US" sz="2623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DM_FactBilling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with denormalized </a:t>
            </a:r>
            <a:r>
              <a:rPr lang="en-US" sz="2623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CustomerType</a:t>
            </a:r>
            <a:r>
              <a:rPr lang="en-US" sz="2623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+ City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50744" y="3213835"/>
            <a:ext cx="8978726" cy="1049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SSIS ETL PIPELINE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75A6B9B-4E9E-CD4D-5391-D4976BF7C186}"/>
              </a:ext>
            </a:extLst>
          </p:cNvPr>
          <p:cNvSpPr txBox="1"/>
          <p:nvPr/>
        </p:nvSpPr>
        <p:spPr>
          <a:xfrm>
            <a:off x="165025" y="5197705"/>
            <a:ext cx="11007449" cy="1571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400" dirty="0"/>
              <a:t>Four packages, stored-procedure architecture, watermark-driven incremental loading.</a:t>
            </a:r>
          </a:p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400" dirty="0"/>
              <a:t>All ETL logic lives in SQL stored procedures — SSIS is a thin orchestration layer. Set-based SQL is 10–20× faster than row-by-row Data Flow Tasks for this domain.</a:t>
            </a:r>
            <a:endParaRPr lang="en-US" sz="240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  <p:transition>
    <p:cover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9998" y="361733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3" y="0"/>
                </a:lnTo>
                <a:lnTo>
                  <a:pt x="5472553" y="1333934"/>
                </a:lnTo>
                <a:lnTo>
                  <a:pt x="0" y="13339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09680" y="705941"/>
            <a:ext cx="7393189" cy="10497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 SSAS OLAP CUBE</a:t>
            </a:r>
          </a:p>
        </p:txBody>
      </p:sp>
      <p:sp>
        <p:nvSpPr>
          <p:cNvPr id="4" name="Freeform 4"/>
          <p:cNvSpPr/>
          <p:nvPr/>
        </p:nvSpPr>
        <p:spPr>
          <a:xfrm>
            <a:off x="12675014" y="-224546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579579" y="5592041"/>
            <a:ext cx="3390900" cy="33909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99970" y="1925358"/>
            <a:ext cx="7062029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Two cubes, 15+ MDX calculated members, and 3 KPIs give analysts millisecond query response.</a:t>
            </a:r>
          </a:p>
        </p:txBody>
      </p:sp>
      <p:sp>
        <p:nvSpPr>
          <p:cNvPr id="9" name="Freeform 9"/>
          <p:cNvSpPr/>
          <p:nvPr/>
        </p:nvSpPr>
        <p:spPr>
          <a:xfrm>
            <a:off x="14860938" y="720090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07604" y="-158688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3743" y="3117992"/>
            <a:ext cx="5422572" cy="4948097"/>
          </a:xfrm>
          <a:custGeom>
            <a:avLst/>
            <a:gdLst/>
            <a:ahLst/>
            <a:cxnLst/>
            <a:rect l="l" t="t" r="r" b="b"/>
            <a:pathLst>
              <a:path w="5422572" h="4948097">
                <a:moveTo>
                  <a:pt x="0" y="0"/>
                </a:moveTo>
                <a:lnTo>
                  <a:pt x="5422572" y="0"/>
                </a:lnTo>
                <a:lnTo>
                  <a:pt x="5422572" y="4948097"/>
                </a:lnTo>
                <a:lnTo>
                  <a:pt x="0" y="4948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383EDBF-1758-0239-C993-F853497CC383}"/>
              </a:ext>
            </a:extLst>
          </p:cNvPr>
          <p:cNvSpPr txBox="1"/>
          <p:nvPr/>
        </p:nvSpPr>
        <p:spPr>
          <a:xfrm>
            <a:off x="6796721" y="6365358"/>
            <a:ext cx="10195879" cy="2782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Calculated measures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include:Peak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Usage % = Peak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KWh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/ Total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KWhCollection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Rate % = Payments Collected / Billed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AmountKWh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MoM Change % using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PARALLELPERIODRevenue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YTD using SUM over YTD billing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cyclesOverdue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Rate %, Dispute Rate %, Avg Days To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PaymentKPIs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(traffic lights): Collection Rate &gt; 90% = green; Overdue Rate &lt; 10% = green; Dispute Rate &lt; 5% = green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1382BA6E-A7D2-525C-63E5-A38F7EEE6F16}"/>
              </a:ext>
            </a:extLst>
          </p:cNvPr>
          <p:cNvSpPr txBox="1"/>
          <p:nvPr/>
        </p:nvSpPr>
        <p:spPr>
          <a:xfrm>
            <a:off x="8219992" y="3811978"/>
            <a:ext cx="7062029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6380" lvl="1" indent="-283190" algn="l">
              <a:lnSpc>
                <a:spcPts val="3148"/>
              </a:lnSpc>
              <a:buFont typeface="Arial"/>
              <a:buChar char="•"/>
            </a:pP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The SSAS project contains two multidimensional cubes sharing six dimensions (Date, </a:t>
            </a:r>
            <a:r>
              <a:rPr lang="en-US" sz="2623" b="1" dirty="0" err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BillingCycle</a:t>
            </a:r>
            <a:r>
              <a:rPr lang="en-US" sz="2623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, Customer, ServiceAccount, Tariff, Meter). MOLAP storage pre-aggregates all data so Excel and Power BI queries return instantly.</a:t>
            </a:r>
          </a:p>
        </p:txBody>
      </p:sp>
    </p:spTree>
  </p:cSld>
  <p:clrMapOvr>
    <a:masterClrMapping/>
  </p:clrMapOvr>
  <p:transition>
    <p:cover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7082" y="1538159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15437" y="38166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254690" y="7704124"/>
            <a:ext cx="3364768" cy="856941"/>
            <a:chOff x="0" y="0"/>
            <a:chExt cx="886194" cy="2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194" cy="225696"/>
            </a:xfrm>
            <a:custGeom>
              <a:avLst/>
              <a:gdLst/>
              <a:ahLst/>
              <a:cxnLst/>
              <a:rect l="l" t="t" r="r" b="b"/>
              <a:pathLst>
                <a:path w="886194" h="225696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19457" y="742998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6202347" flipV="1">
            <a:off x="13751751" y="-111153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091016" y="3589324"/>
            <a:ext cx="3528441" cy="4114800"/>
          </a:xfrm>
          <a:custGeom>
            <a:avLst/>
            <a:gdLst/>
            <a:ahLst/>
            <a:cxnLst/>
            <a:rect l="l" t="t" r="r" b="b"/>
            <a:pathLst>
              <a:path w="3528441" h="4114800">
                <a:moveTo>
                  <a:pt x="0" y="0"/>
                </a:moveTo>
                <a:lnTo>
                  <a:pt x="3528441" y="0"/>
                </a:lnTo>
                <a:lnTo>
                  <a:pt x="3528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94276" y="4339524"/>
            <a:ext cx="7773397" cy="5909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/>
              <a:t>Excel workbook 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Executive Summary — 6 KPI metric tiles, monthly revenue trend, consumption by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Energy Consumption — daily trend, peak/off-peak split, top-10 accounts, anomaly heatmap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Billing &amp; Collections — revenue waterfall, status distribution, monthly KPI table with conditional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Disputes &amp; Risk — dispute rate trends, outstanding balance by city, high-risk customer list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2692" y="723933"/>
            <a:ext cx="5566326" cy="104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DASHBOARDS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AE9C83E-99ED-2112-33CC-F6C5F67FE713}"/>
              </a:ext>
            </a:extLst>
          </p:cNvPr>
          <p:cNvSpPr txBox="1"/>
          <p:nvPr/>
        </p:nvSpPr>
        <p:spPr>
          <a:xfrm>
            <a:off x="415154" y="3012622"/>
            <a:ext cx="7773397" cy="132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3465"/>
              </a:lnSpc>
              <a:buFont typeface="Arial" panose="020B0604020202020204" pitchFamily="34" charset="0"/>
              <a:buChar char="•"/>
            </a:pPr>
            <a:r>
              <a:rPr lang="en-US" sz="2887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report pages covering consumption, billing, risk, and executive KPIs — all connected live to the SSAS cube.</a:t>
            </a:r>
          </a:p>
        </p:txBody>
      </p:sp>
    </p:spTree>
    <p:extLst>
      <p:ext uri="{BB962C8B-B14F-4D97-AF65-F5344CB8AC3E}">
        <p14:creationId xmlns:p14="http://schemas.microsoft.com/office/powerpoint/2010/main" val="1643480890"/>
      </p:ext>
    </p:extLst>
  </p:cSld>
  <p:clrMapOvr>
    <a:masterClrMapping/>
  </p:clrMapOvr>
  <p:transition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57082" y="1538159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15437" y="38166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254690" y="7704124"/>
            <a:ext cx="3364768" cy="856941"/>
            <a:chOff x="0" y="0"/>
            <a:chExt cx="886194" cy="2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194" cy="225696"/>
            </a:xfrm>
            <a:custGeom>
              <a:avLst/>
              <a:gdLst/>
              <a:ahLst/>
              <a:cxnLst/>
              <a:rect l="l" t="t" r="r" b="b"/>
              <a:pathLst>
                <a:path w="886194" h="225696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19457" y="742998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6202347" flipV="1">
            <a:off x="13751751" y="-111153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091016" y="3589324"/>
            <a:ext cx="3528441" cy="4114800"/>
          </a:xfrm>
          <a:custGeom>
            <a:avLst/>
            <a:gdLst/>
            <a:ahLst/>
            <a:cxnLst/>
            <a:rect l="l" t="t" r="r" b="b"/>
            <a:pathLst>
              <a:path w="3528441" h="4114800">
                <a:moveTo>
                  <a:pt x="0" y="0"/>
                </a:moveTo>
                <a:lnTo>
                  <a:pt x="3528441" y="0"/>
                </a:lnTo>
                <a:lnTo>
                  <a:pt x="35284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3589324"/>
            <a:ext cx="77733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/>
              <a:t>Power BI (2 report files):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/>
              <a:t>EnergyUsage_Report.pbix</a:t>
            </a:r>
            <a:r>
              <a:rPr lang="en-US" sz="3200" dirty="0"/>
              <a:t> — consumption analysis, peak load, geographic heatmap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/>
              <a:t>Billing_Report.pbix</a:t>
            </a:r>
            <a:r>
              <a:rPr lang="en-US" sz="3200" dirty="0"/>
              <a:t> — KPI visuals with traffic lights, collections funnel, risk matrix scatter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2692" y="723933"/>
            <a:ext cx="5566326" cy="104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DASHBOARDS</a:t>
            </a:r>
          </a:p>
        </p:txBody>
      </p:sp>
    </p:spTree>
  </p:cSld>
  <p:clrMapOvr>
    <a:masterClrMapping/>
  </p:clrMapOvr>
  <p:transition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3981" y="-2951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3" y="0"/>
                </a:lnTo>
                <a:lnTo>
                  <a:pt x="5472553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71430" y="-495267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336735" y="7683546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6202347" flipV="1">
            <a:off x="-135203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574B3A-86D3-D719-E2DD-DF97B222E1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0630" y="1881857"/>
            <a:ext cx="13846740" cy="65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620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36735" y="7683546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6202347" flipV="1">
            <a:off x="-135203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CB47C2-2729-5DAD-6C5F-CB4AFDA48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2466160"/>
            <a:ext cx="13724809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3733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36735" y="7683546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6202347" flipV="1">
            <a:off x="-135203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4B9898-BE19-D3A5-46EE-48D5DB246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1610" y="1801201"/>
            <a:ext cx="14616427" cy="801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5248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88384" y="3332040"/>
            <a:ext cx="5472554" cy="1333935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21566" y="1403445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579579" y="5592041"/>
            <a:ext cx="3390900" cy="33909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860938" y="7200900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207604" y="-158688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53634" y="3534641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67B6690F-CBE3-8FF5-E8AC-87A43F55ECCE}"/>
              </a:ext>
            </a:extLst>
          </p:cNvPr>
          <p:cNvSpPr txBox="1"/>
          <p:nvPr/>
        </p:nvSpPr>
        <p:spPr>
          <a:xfrm>
            <a:off x="6754676" y="6392694"/>
            <a:ext cx="9731062" cy="2033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158"/>
              </a:lnSpc>
              <a:buFont typeface="Arial" panose="020B0604020202020204" pitchFamily="34" charset="0"/>
              <a:buChar char="•"/>
            </a:pPr>
            <a:r>
              <a:rPr lang="en-US" sz="263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SQL Server Agent runs the full pipeline nightly — from raw transactions to live dashboard with no human intervention..</a:t>
            </a:r>
          </a:p>
          <a:p>
            <a:pPr marL="457200" indent="-457200" algn="l">
              <a:lnSpc>
                <a:spcPts val="3158"/>
              </a:lnSpc>
              <a:buFont typeface="Arial" panose="020B0604020202020204" pitchFamily="34" charset="0"/>
              <a:buChar char="•"/>
            </a:pPr>
            <a:endParaRPr lang="en-US" sz="2631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l">
              <a:lnSpc>
                <a:spcPts val="3158"/>
              </a:lnSpc>
              <a:buFont typeface="Arial" panose="020B0604020202020204" pitchFamily="34" charset="0"/>
              <a:buChar char="•"/>
            </a:pPr>
            <a:r>
              <a:rPr lang="en-US" sz="2631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 automated nightly chain ensures data is always fresh when the team arrives in the morning.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67B6751-6CAE-7C71-621F-96CBEAB1F642}"/>
              </a:ext>
            </a:extLst>
          </p:cNvPr>
          <p:cNvSpPr txBox="1"/>
          <p:nvPr/>
        </p:nvSpPr>
        <p:spPr>
          <a:xfrm>
            <a:off x="9183413" y="3069609"/>
            <a:ext cx="5854526" cy="2088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AUTOMATION &amp; SCHEDULING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38683" y="1181100"/>
            <a:ext cx="5472554" cy="1236022"/>
          </a:xfrm>
          <a:custGeom>
            <a:avLst/>
            <a:gdLst/>
            <a:ahLst/>
            <a:cxnLst/>
            <a:rect l="l" t="t" r="r" b="b"/>
            <a:pathLst>
              <a:path w="5472554" h="1333935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43400" y="95883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11254690" y="7704124"/>
            <a:ext cx="3364768" cy="856941"/>
            <a:chOff x="0" y="0"/>
            <a:chExt cx="886194" cy="2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86194" cy="225696"/>
            </a:xfrm>
            <a:custGeom>
              <a:avLst/>
              <a:gdLst/>
              <a:ahLst/>
              <a:cxnLst/>
              <a:rect l="l" t="t" r="r" b="b"/>
              <a:pathLst>
                <a:path w="886194" h="225696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4619457" y="7429989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6202347" flipV="1">
            <a:off x="13751751" y="-111153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147443" y="3907328"/>
            <a:ext cx="5056590" cy="4114800"/>
          </a:xfrm>
          <a:custGeom>
            <a:avLst/>
            <a:gdLst/>
            <a:ahLst/>
            <a:cxnLst/>
            <a:rect l="l" t="t" r="r" b="b"/>
            <a:pathLst>
              <a:path w="5056590" h="4114800">
                <a:moveTo>
                  <a:pt x="0" y="0"/>
                </a:moveTo>
                <a:lnTo>
                  <a:pt x="5056589" y="0"/>
                </a:lnTo>
                <a:lnTo>
                  <a:pt x="50565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2400" y="2805801"/>
            <a:ext cx="990600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-The core architecture is complete. These actions move it to production-ready: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Production data volume: </a:t>
            </a:r>
            <a:r>
              <a:rPr lang="en-US" sz="2800" dirty="0"/>
              <a:t>Increase seed data to 10+ years and test SSAS partition strategy (one partition per month for FactEnergyUsage)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Real meter data integration: </a:t>
            </a:r>
            <a:r>
              <a:rPr lang="en-US" sz="2800" dirty="0"/>
              <a:t>Replace seed data with actual AMI/smart meter feeds via a CSV-to-OLTP SSIS package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Power BI Service deployment: Configure On-premises gateway, publish reports to Power BI Service, set up row-level security per customer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Executive reporting: </a:t>
            </a:r>
            <a:r>
              <a:rPr lang="en-US" sz="2800" dirty="0"/>
              <a:t>Add Overdue + Dispute Rate KPI tiles to the Executive Summary sheet; configure email alerts in Power BI when thresholds breach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48000" y="1481891"/>
            <a:ext cx="9098064" cy="104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03"/>
              </a:lnSpc>
            </a:pPr>
            <a:r>
              <a:rPr lang="en-US" sz="8441" dirty="0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NEXT STEPS</a:t>
            </a:r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08145" y="2128120"/>
            <a:ext cx="6871710" cy="1674979"/>
          </a:xfrm>
          <a:custGeom>
            <a:avLst/>
            <a:gdLst/>
            <a:ahLst/>
            <a:cxnLst/>
            <a:rect l="l" t="t" r="r" b="b"/>
            <a:pathLst>
              <a:path w="6871710" h="1674979">
                <a:moveTo>
                  <a:pt x="0" y="0"/>
                </a:moveTo>
                <a:lnTo>
                  <a:pt x="6871710" y="0"/>
                </a:lnTo>
                <a:lnTo>
                  <a:pt x="6871710" y="1674979"/>
                </a:lnTo>
                <a:lnTo>
                  <a:pt x="0" y="1674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61449" y="1251634"/>
            <a:ext cx="2165101" cy="990534"/>
          </a:xfrm>
          <a:custGeom>
            <a:avLst/>
            <a:gdLst/>
            <a:ahLst/>
            <a:cxnLst/>
            <a:rect l="l" t="t" r="r" b="b"/>
            <a:pathLst>
              <a:path w="2165101" h="990534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764739">
            <a:off x="9233882" y="7376618"/>
            <a:ext cx="917246" cy="9172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-6202347" flipV="1">
            <a:off x="-1906485" y="-310499"/>
            <a:ext cx="5423130" cy="4114800"/>
          </a:xfrm>
          <a:custGeom>
            <a:avLst/>
            <a:gdLst/>
            <a:ahLst/>
            <a:cxnLst/>
            <a:rect l="l" t="t" r="r" b="b"/>
            <a:pathLst>
              <a:path w="5423130" h="411480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23342" y="7286736"/>
            <a:ext cx="4472609" cy="4114800"/>
          </a:xfrm>
          <a:custGeom>
            <a:avLst/>
            <a:gdLst/>
            <a:ahLst/>
            <a:cxnLst/>
            <a:rect l="l" t="t" r="r" b="b"/>
            <a:pathLst>
              <a:path w="4472609" h="4114800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86336" y="412279"/>
            <a:ext cx="12354052" cy="1715841"/>
            <a:chOff x="0" y="0"/>
            <a:chExt cx="16472069" cy="22877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72069" cy="2287787"/>
            </a:xfrm>
            <a:custGeom>
              <a:avLst/>
              <a:gdLst/>
              <a:ahLst/>
              <a:cxnLst/>
              <a:rect l="l" t="t" r="r" b="b"/>
              <a:pathLst>
                <a:path w="16472069" h="2287787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16472069" cy="24116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764739">
            <a:off x="11357879" y="4263986"/>
            <a:ext cx="4944408" cy="3430183"/>
          </a:xfrm>
          <a:custGeom>
            <a:avLst/>
            <a:gdLst/>
            <a:ahLst/>
            <a:cxnLst/>
            <a:rect l="l" t="t" r="r" b="b"/>
            <a:pathLst>
              <a:path w="4944408" h="3430183">
                <a:moveTo>
                  <a:pt x="0" y="0"/>
                </a:moveTo>
                <a:lnTo>
                  <a:pt x="4944408" y="0"/>
                </a:lnTo>
                <a:lnTo>
                  <a:pt x="4944408" y="3430183"/>
                </a:lnTo>
                <a:lnTo>
                  <a:pt x="0" y="3430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871662">
            <a:off x="3752751" y="4703988"/>
            <a:ext cx="3910788" cy="3241065"/>
          </a:xfrm>
          <a:custGeom>
            <a:avLst/>
            <a:gdLst/>
            <a:ahLst/>
            <a:cxnLst/>
            <a:rect l="l" t="t" r="r" b="b"/>
            <a:pathLst>
              <a:path w="3910788" h="3241065">
                <a:moveTo>
                  <a:pt x="0" y="0"/>
                </a:moveTo>
                <a:lnTo>
                  <a:pt x="3910788" y="0"/>
                </a:lnTo>
                <a:lnTo>
                  <a:pt x="3910788" y="3241065"/>
                </a:lnTo>
                <a:lnTo>
                  <a:pt x="0" y="3241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738629" y="2495431"/>
            <a:ext cx="10810741" cy="108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THANK YOU</a:t>
            </a:r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1023</Words>
  <Application>Microsoft Office PowerPoint</Application>
  <PresentationFormat>Custom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Berthold Block</vt:lpstr>
      <vt:lpstr>Dubai</vt:lpstr>
      <vt:lpstr>Glacial Indifference</vt:lpstr>
      <vt:lpstr>Arial</vt:lpstr>
      <vt:lpstr>Glacial Indifference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ex_system</dc:title>
  <dc:creator>Admin</dc:creator>
  <cp:lastModifiedBy>adhm_ ahmed</cp:lastModifiedBy>
  <cp:revision>6</cp:revision>
  <dcterms:created xsi:type="dcterms:W3CDTF">2006-08-16T00:00:00Z</dcterms:created>
  <dcterms:modified xsi:type="dcterms:W3CDTF">2026-04-21T21:38:27Z</dcterms:modified>
  <dc:identifier>DAHBv8fWQYw</dc:identifier>
</cp:coreProperties>
</file>